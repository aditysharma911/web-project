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99C-A650-4AFF-8CDF-ED596A5988A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01EB0-E8DE-4266-A3BB-8A1DCFF8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39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99C-A650-4AFF-8CDF-ED596A5988A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01EB0-E8DE-4266-A3BB-8A1DCFF8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02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99C-A650-4AFF-8CDF-ED596A5988A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01EB0-E8DE-4266-A3BB-8A1DCFF8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1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99C-A650-4AFF-8CDF-ED596A5988A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01EB0-E8DE-4266-A3BB-8A1DCFF8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61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99C-A650-4AFF-8CDF-ED596A5988A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01EB0-E8DE-4266-A3BB-8A1DCFF8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53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99C-A650-4AFF-8CDF-ED596A5988A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01EB0-E8DE-4266-A3BB-8A1DCFF8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303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99C-A650-4AFF-8CDF-ED596A5988A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01EB0-E8DE-4266-A3BB-8A1DCFF8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910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99C-A650-4AFF-8CDF-ED596A5988A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01EB0-E8DE-4266-A3BB-8A1DCFF8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39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99C-A650-4AFF-8CDF-ED596A5988A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01EB0-E8DE-4266-A3BB-8A1DCFF8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39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99C-A650-4AFF-8CDF-ED596A5988A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01EB0-E8DE-4266-A3BB-8A1DCFF8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74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99C-A650-4AFF-8CDF-ED596A5988A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01EB0-E8DE-4266-A3BB-8A1DCFF8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6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9C99C-A650-4AFF-8CDF-ED596A5988A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01EB0-E8DE-4266-A3BB-8A1DCFF8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ADBC6"/>
            </a:gs>
            <a:gs pos="0">
              <a:srgbClr val="F4B285"/>
            </a:gs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ewar Univers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449" y="439079"/>
            <a:ext cx="4340225" cy="1103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64266" y="1981200"/>
            <a:ext cx="102277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 smtClean="0">
                <a:latin typeface="Algerian" panose="04020705040A02060702" pitchFamily="82" charset="0"/>
              </a:rPr>
              <a:t>TOPIC : GENRAION OF COMPUTER.</a:t>
            </a:r>
            <a:endParaRPr lang="en-US" sz="4000" u="sng" dirty="0">
              <a:latin typeface="Algerian" panose="04020705040A02060702" pitchFamily="8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9625" y="3127235"/>
            <a:ext cx="3943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u="sng" dirty="0" smtClean="0"/>
              <a:t>SUBMITTED BY:</a:t>
            </a:r>
            <a:endParaRPr lang="en-US" sz="2800" b="1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7716836" y="3127235"/>
            <a:ext cx="3943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u="sng" dirty="0" smtClean="0"/>
              <a:t>SUBMITTED TO:</a:t>
            </a:r>
            <a:endParaRPr lang="en-US" sz="2800" b="1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898524" y="3838575"/>
            <a:ext cx="28289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ADITYA NATH VYAS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[ MUR2504859 ]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DEP. :BCA 1</a:t>
            </a:r>
            <a:r>
              <a:rPr lang="en-US" sz="2400" baseline="30000" dirty="0" smtClean="0"/>
              <a:t>ST</a:t>
            </a:r>
            <a:r>
              <a:rPr lang="en-US" sz="2400" dirty="0" smtClean="0"/>
              <a:t> Year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SEC. : B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716836" y="3838575"/>
            <a:ext cx="4027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BHAGYASHREE MA’AM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60172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DBC6"/>
            </a:gs>
            <a:gs pos="100000">
              <a:srgbClr val="F4B285"/>
            </a:gs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73458">
              <a:srgbClr val="F09557"/>
            </a:gs>
            <a:gs pos="0">
              <a:srgbClr val="FFFFFF"/>
            </a:gs>
            <a:gs pos="95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dirty="0">
                <a:latin typeface="Algerian" panose="04020705040A02060702" pitchFamily="82" charset="0"/>
              </a:rPr>
              <a:t>GENERATIONS OF </a:t>
            </a:r>
            <a:r>
              <a:rPr lang="en-IN" dirty="0" smtClean="0">
                <a:latin typeface="Algerian" panose="04020705040A02060702" pitchFamily="82" charset="0"/>
              </a:rPr>
              <a:t>COMPUTERS.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The development of computers is divided into five generations based on technological </a:t>
            </a:r>
            <a:r>
              <a:rPr lang="en-IN" dirty="0" smtClean="0"/>
              <a:t>advancement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1</a:t>
            </a:r>
            <a:r>
              <a:rPr lang="en-IN" baseline="30000" dirty="0" smtClean="0"/>
              <a:t>st</a:t>
            </a:r>
            <a:r>
              <a:rPr lang="en-IN" dirty="0" smtClean="0"/>
              <a:t> Generation </a:t>
            </a:r>
            <a:r>
              <a:rPr lang="en-IN" dirty="0"/>
              <a:t>of Computers 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2</a:t>
            </a:r>
            <a:r>
              <a:rPr lang="en-IN" baseline="30000" dirty="0" smtClean="0"/>
              <a:t>nd</a:t>
            </a:r>
            <a:r>
              <a:rPr lang="en-IN" dirty="0" smtClean="0"/>
              <a:t> Generation </a:t>
            </a:r>
            <a:r>
              <a:rPr lang="en-IN" dirty="0"/>
              <a:t>of Computers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3</a:t>
            </a:r>
            <a:r>
              <a:rPr lang="en-IN" baseline="30000" dirty="0" smtClean="0"/>
              <a:t>rd</a:t>
            </a:r>
            <a:r>
              <a:rPr lang="en-IN" dirty="0" smtClean="0"/>
              <a:t> Generation </a:t>
            </a:r>
            <a:r>
              <a:rPr lang="en-IN" dirty="0"/>
              <a:t>of Computers 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4</a:t>
            </a:r>
            <a:r>
              <a:rPr lang="en-IN" baseline="30000" dirty="0" smtClean="0"/>
              <a:t>th</a:t>
            </a:r>
            <a:r>
              <a:rPr lang="en-IN" dirty="0" smtClean="0"/>
              <a:t> First </a:t>
            </a:r>
            <a:r>
              <a:rPr lang="en-IN" dirty="0"/>
              <a:t>Generation of Computers 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5</a:t>
            </a:r>
            <a:r>
              <a:rPr lang="en-IN" baseline="30000" dirty="0" smtClean="0"/>
              <a:t>th</a:t>
            </a:r>
            <a:r>
              <a:rPr lang="en-IN" dirty="0" smtClean="0"/>
              <a:t> Generation </a:t>
            </a:r>
            <a:r>
              <a:rPr lang="en-IN" dirty="0"/>
              <a:t>of Computers </a:t>
            </a:r>
          </a:p>
        </p:txBody>
      </p:sp>
      <p:pic>
        <p:nvPicPr>
          <p:cNvPr id="4" name="Picture 4" descr="Mewar Universit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570"/>
          <a:stretch/>
        </p:blipFill>
        <p:spPr bwMode="auto">
          <a:xfrm>
            <a:off x="10281708" y="230188"/>
            <a:ext cx="1630892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27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DBC6"/>
            </a:gs>
            <a:gs pos="100000">
              <a:srgbClr val="F4B285"/>
            </a:gs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73458">
              <a:srgbClr val="F09557"/>
            </a:gs>
            <a:gs pos="0">
              <a:srgbClr val="FFFFFF"/>
            </a:gs>
            <a:gs pos="95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40518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 smtClean="0">
                <a:latin typeface="Algerian" panose="04020705040A02060702" pitchFamily="82" charset="0"/>
              </a:rPr>
              <a:t>1. </a:t>
            </a:r>
            <a:r>
              <a:rPr lang="en-IN" sz="3200" dirty="0" smtClean="0">
                <a:latin typeface="Algerian" panose="04020705040A02060702" pitchFamily="82" charset="0"/>
              </a:rPr>
              <a:t>1</a:t>
            </a:r>
            <a:r>
              <a:rPr lang="en-IN" sz="3200" baseline="30000" dirty="0" smtClean="0">
                <a:latin typeface="Algerian" panose="04020705040A02060702" pitchFamily="82" charset="0"/>
              </a:rPr>
              <a:t>st</a:t>
            </a:r>
            <a:r>
              <a:rPr lang="en-IN" sz="3200" dirty="0" smtClean="0">
                <a:latin typeface="Algerian" panose="04020705040A02060702" pitchFamily="82" charset="0"/>
              </a:rPr>
              <a:t> Generation </a:t>
            </a:r>
            <a:r>
              <a:rPr lang="en-IN" sz="3200" dirty="0">
                <a:latin typeface="Algerian" panose="04020705040A02060702" pitchFamily="82" charset="0"/>
              </a:rPr>
              <a:t>of Computers </a:t>
            </a:r>
            <a:r>
              <a:rPr lang="en-IN" sz="3200" dirty="0"/>
              <a:t>(1940–1956)</a:t>
            </a:r>
            <a:endParaRPr lang="en-US" sz="32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Used </a:t>
            </a:r>
            <a:r>
              <a:rPr lang="en-US" b="1" dirty="0" smtClean="0"/>
              <a:t>Vacuum Tubes</a:t>
            </a:r>
            <a:endParaRPr lang="en-US" dirty="0" smtClean="0"/>
          </a:p>
          <a:p>
            <a:r>
              <a:rPr lang="en-US" dirty="0" smtClean="0"/>
              <a:t>Very large in size</a:t>
            </a:r>
          </a:p>
          <a:p>
            <a:r>
              <a:rPr lang="en-US" dirty="0" smtClean="0"/>
              <a:t>Consumed a lot of electricity</a:t>
            </a:r>
          </a:p>
          <a:p>
            <a:r>
              <a:rPr lang="en-US" dirty="0" smtClean="0"/>
              <a:t>Generated excessive heat</a:t>
            </a:r>
          </a:p>
          <a:p>
            <a:r>
              <a:rPr lang="en-US" dirty="0" smtClean="0"/>
              <a:t>Programming language: </a:t>
            </a:r>
            <a:r>
              <a:rPr lang="en-US" b="1" dirty="0" smtClean="0"/>
              <a:t>Machine Language</a:t>
            </a:r>
            <a:endParaRPr lang="en-US" dirty="0" smtClean="0"/>
          </a:p>
          <a:p>
            <a:r>
              <a:rPr lang="en-US" b="1" dirty="0" smtClean="0"/>
              <a:t>Examples:</a:t>
            </a:r>
            <a:endParaRPr lang="en-US" dirty="0" smtClean="0"/>
          </a:p>
          <a:p>
            <a:r>
              <a:rPr lang="en-US" dirty="0" smtClean="0"/>
              <a:t>ENIAC</a:t>
            </a:r>
          </a:p>
          <a:p>
            <a:r>
              <a:rPr lang="en-US" dirty="0" smtClean="0"/>
              <a:t>UNIVAC</a:t>
            </a:r>
          </a:p>
          <a:p>
            <a:endParaRPr lang="en-US" dirty="0"/>
          </a:p>
        </p:txBody>
      </p:sp>
      <p:pic>
        <p:nvPicPr>
          <p:cNvPr id="4" name="Picture 4" descr="Mewar Universit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570"/>
          <a:stretch/>
        </p:blipFill>
        <p:spPr bwMode="auto">
          <a:xfrm>
            <a:off x="10281708" y="230188"/>
            <a:ext cx="1630892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076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DBC6"/>
            </a:gs>
            <a:gs pos="100000">
              <a:srgbClr val="F4B285"/>
            </a:gs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73458">
              <a:srgbClr val="F09557"/>
            </a:gs>
            <a:gs pos="0">
              <a:srgbClr val="FFFFFF"/>
            </a:gs>
            <a:gs pos="95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lgerian" panose="04020705040A02060702" pitchFamily="82" charset="0"/>
              </a:rPr>
              <a:t>2. </a:t>
            </a:r>
            <a:r>
              <a:rPr lang="en-US" sz="3200" dirty="0" smtClean="0">
                <a:latin typeface="Algerian" panose="04020705040A02060702" pitchFamily="82" charset="0"/>
              </a:rPr>
              <a:t>2</a:t>
            </a:r>
            <a:r>
              <a:rPr lang="en-US" sz="3200" baseline="30000" dirty="0" smtClean="0">
                <a:latin typeface="Algerian" panose="04020705040A02060702" pitchFamily="82" charset="0"/>
              </a:rPr>
              <a:t>nd</a:t>
            </a:r>
            <a:r>
              <a:rPr lang="en-US" sz="3200" dirty="0" smtClean="0">
                <a:latin typeface="Algerian" panose="04020705040A02060702" pitchFamily="82" charset="0"/>
              </a:rPr>
              <a:t> Generation of Computer (1956–1963)</a:t>
            </a:r>
            <a:endParaRPr lang="en-US" sz="32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Used </a:t>
            </a:r>
            <a:r>
              <a:rPr lang="en-US" b="1" dirty="0" smtClean="0"/>
              <a:t>Transistors</a:t>
            </a:r>
            <a:endParaRPr lang="en-US" dirty="0" smtClean="0"/>
          </a:p>
          <a:p>
            <a:r>
              <a:rPr lang="en-US" dirty="0" smtClean="0"/>
              <a:t>Smaller and more reliable than first generation</a:t>
            </a:r>
          </a:p>
          <a:p>
            <a:r>
              <a:rPr lang="en-US" dirty="0" smtClean="0"/>
              <a:t>Less heat produced</a:t>
            </a:r>
          </a:p>
          <a:p>
            <a:r>
              <a:rPr lang="en-US" dirty="0" smtClean="0"/>
              <a:t>Programming language: </a:t>
            </a:r>
            <a:r>
              <a:rPr lang="en-US" b="1" dirty="0" smtClean="0"/>
              <a:t>Assembly Language</a:t>
            </a:r>
            <a:endParaRPr lang="en-US" dirty="0" smtClean="0"/>
          </a:p>
          <a:p>
            <a:r>
              <a:rPr lang="en-US" b="1" dirty="0" smtClean="0"/>
              <a:t>Examples:</a:t>
            </a:r>
            <a:endParaRPr lang="en-US" dirty="0" smtClean="0"/>
          </a:p>
          <a:p>
            <a:r>
              <a:rPr lang="en-US" dirty="0" smtClean="0"/>
              <a:t>IBM 7094</a:t>
            </a:r>
          </a:p>
          <a:p>
            <a:r>
              <a:rPr lang="en-US" dirty="0" smtClean="0"/>
              <a:t>CDC 1604</a:t>
            </a:r>
          </a:p>
        </p:txBody>
      </p:sp>
      <p:pic>
        <p:nvPicPr>
          <p:cNvPr id="4" name="Picture 4" descr="Mewar Universit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570"/>
          <a:stretch/>
        </p:blipFill>
        <p:spPr bwMode="auto">
          <a:xfrm>
            <a:off x="10281708" y="230188"/>
            <a:ext cx="1630892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1539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DBC6"/>
            </a:gs>
            <a:gs pos="100000">
              <a:srgbClr val="F4B285"/>
            </a:gs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73458">
              <a:srgbClr val="F09557"/>
            </a:gs>
            <a:gs pos="0">
              <a:srgbClr val="FFFFFF"/>
            </a:gs>
            <a:gs pos="95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lgerian" panose="04020705040A02060702" pitchFamily="82" charset="0"/>
              </a:rPr>
              <a:t>3. </a:t>
            </a:r>
            <a:r>
              <a:rPr lang="en-US" sz="3200" dirty="0" smtClean="0">
                <a:latin typeface="Algerian" panose="04020705040A02060702" pitchFamily="82" charset="0"/>
              </a:rPr>
              <a:t>3</a:t>
            </a:r>
            <a:r>
              <a:rPr lang="en-US" sz="3200" baseline="30000" dirty="0" smtClean="0">
                <a:latin typeface="Algerian" panose="04020705040A02060702" pitchFamily="82" charset="0"/>
              </a:rPr>
              <a:t>rd</a:t>
            </a:r>
            <a:r>
              <a:rPr lang="en-US" sz="3200" dirty="0" smtClean="0">
                <a:latin typeface="Algerian" panose="04020705040A02060702" pitchFamily="82" charset="0"/>
              </a:rPr>
              <a:t> Generation of Computer (1964–1971)</a:t>
            </a:r>
            <a:endParaRPr lang="en-US" sz="32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Used </a:t>
            </a:r>
            <a:r>
              <a:rPr lang="en-US" b="1" dirty="0" smtClean="0"/>
              <a:t>Integrated Circuits (ICs)</a:t>
            </a:r>
            <a:endParaRPr lang="en-US" dirty="0" smtClean="0"/>
          </a:p>
          <a:p>
            <a:r>
              <a:rPr lang="en-US" dirty="0" smtClean="0"/>
              <a:t>Faster and more efficient</a:t>
            </a:r>
          </a:p>
          <a:p>
            <a:r>
              <a:rPr lang="en-US" dirty="0" smtClean="0"/>
              <a:t>Reduced size and cost</a:t>
            </a:r>
          </a:p>
          <a:p>
            <a:r>
              <a:rPr lang="en-US" dirty="0" smtClean="0"/>
              <a:t>Programming language: </a:t>
            </a:r>
            <a:r>
              <a:rPr lang="en-US" b="1" dirty="0" smtClean="0"/>
              <a:t>High-level languages (FORTRAN, COBOL)</a:t>
            </a:r>
            <a:endParaRPr lang="en-US" dirty="0" smtClean="0"/>
          </a:p>
          <a:p>
            <a:r>
              <a:rPr lang="en-US" b="1" dirty="0" smtClean="0"/>
              <a:t>Examples:</a:t>
            </a:r>
            <a:endParaRPr lang="en-US" dirty="0" smtClean="0"/>
          </a:p>
          <a:p>
            <a:r>
              <a:rPr lang="en-US" dirty="0" smtClean="0"/>
              <a:t>IBM 360</a:t>
            </a:r>
          </a:p>
          <a:p>
            <a:r>
              <a:rPr lang="en-US" dirty="0" smtClean="0"/>
              <a:t>PDP-8</a:t>
            </a:r>
          </a:p>
          <a:p>
            <a:endParaRPr lang="en-US" dirty="0"/>
          </a:p>
        </p:txBody>
      </p:sp>
      <p:pic>
        <p:nvPicPr>
          <p:cNvPr id="4" name="Picture 4" descr="Mewar Universit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570"/>
          <a:stretch/>
        </p:blipFill>
        <p:spPr bwMode="auto">
          <a:xfrm>
            <a:off x="10281708" y="230188"/>
            <a:ext cx="1630892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909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DBC6"/>
            </a:gs>
            <a:gs pos="100000">
              <a:srgbClr val="F4B285"/>
            </a:gs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73458">
              <a:srgbClr val="F09557"/>
            </a:gs>
            <a:gs pos="0">
              <a:srgbClr val="FFFFFF"/>
            </a:gs>
            <a:gs pos="95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554" y="34051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lgerian" panose="04020705040A02060702" pitchFamily="82" charset="0"/>
              </a:rPr>
              <a:t>4. </a:t>
            </a:r>
            <a:r>
              <a:rPr lang="en-US" sz="3200" dirty="0" smtClean="0">
                <a:latin typeface="Algerian" panose="04020705040A02060702" pitchFamily="82" charset="0"/>
              </a:rPr>
              <a:t>4</a:t>
            </a:r>
            <a:r>
              <a:rPr lang="en-US" sz="3200" baseline="30000" dirty="0" smtClean="0">
                <a:latin typeface="Algerian" panose="04020705040A02060702" pitchFamily="82" charset="0"/>
              </a:rPr>
              <a:t>th</a:t>
            </a:r>
            <a:r>
              <a:rPr lang="en-US" sz="3200" dirty="0" smtClean="0">
                <a:latin typeface="Algerian" panose="04020705040A02060702" pitchFamily="82" charset="0"/>
              </a:rPr>
              <a:t> Generation of Computer (1971–Present)</a:t>
            </a:r>
            <a:endParaRPr lang="en-US" sz="32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Used </a:t>
            </a:r>
            <a:r>
              <a:rPr lang="en-US" b="1" dirty="0" smtClean="0"/>
              <a:t>Microprocessors</a:t>
            </a:r>
            <a:endParaRPr lang="en-US" dirty="0" smtClean="0"/>
          </a:p>
          <a:p>
            <a:r>
              <a:rPr lang="en-US" dirty="0" smtClean="0"/>
              <a:t>Very small and powerful</a:t>
            </a:r>
          </a:p>
          <a:p>
            <a:r>
              <a:rPr lang="en-US" dirty="0" smtClean="0"/>
              <a:t>Personal computers became popular</a:t>
            </a:r>
          </a:p>
          <a:p>
            <a:r>
              <a:rPr lang="en-US" dirty="0" smtClean="0"/>
              <a:t>Programming languages: </a:t>
            </a:r>
            <a:r>
              <a:rPr lang="en-US" b="1" dirty="0" smtClean="0"/>
              <a:t>C, C++, Java</a:t>
            </a:r>
            <a:endParaRPr lang="en-US" dirty="0" smtClean="0"/>
          </a:p>
          <a:p>
            <a:r>
              <a:rPr lang="en-US" b="1" dirty="0" smtClean="0"/>
              <a:t>Examples:</a:t>
            </a:r>
            <a:endParaRPr lang="en-US" dirty="0" smtClean="0"/>
          </a:p>
          <a:p>
            <a:r>
              <a:rPr lang="en-US" dirty="0" smtClean="0"/>
              <a:t>Desktop Computers</a:t>
            </a:r>
          </a:p>
          <a:p>
            <a:r>
              <a:rPr lang="en-US" dirty="0" smtClean="0"/>
              <a:t>Laptops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4" descr="Mewar Universit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570"/>
          <a:stretch/>
        </p:blipFill>
        <p:spPr bwMode="auto">
          <a:xfrm>
            <a:off x="10281708" y="230188"/>
            <a:ext cx="1630892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618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8000">
              <a:srgbClr val="F8CDB0"/>
            </a:gs>
            <a:gs pos="70000">
              <a:srgbClr val="F6BF99"/>
            </a:gs>
            <a:gs pos="0">
              <a:srgbClr val="FADBC6"/>
            </a:gs>
            <a:gs pos="0">
              <a:srgbClr val="F4B285"/>
            </a:gs>
            <a:gs pos="0">
              <a:schemeClr val="accent2">
                <a:lumMod val="0"/>
                <a:lumOff val="100000"/>
              </a:schemeClr>
            </a:gs>
            <a:gs pos="22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554" y="34051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5</a:t>
            </a:r>
            <a:r>
              <a:rPr lang="en-US" sz="3600" dirty="0" smtClean="0">
                <a:latin typeface="Algerian" panose="04020705040A02060702" pitchFamily="82" charset="0"/>
              </a:rPr>
              <a:t>. </a:t>
            </a:r>
            <a:r>
              <a:rPr lang="en-US" sz="2800" dirty="0" smtClean="0">
                <a:latin typeface="Algerian" panose="04020705040A02060702" pitchFamily="82" charset="0"/>
              </a:rPr>
              <a:t>5</a:t>
            </a:r>
            <a:r>
              <a:rPr lang="en-US" sz="2800" baseline="30000" dirty="0" smtClean="0">
                <a:latin typeface="Algerian" panose="04020705040A02060702" pitchFamily="82" charset="0"/>
              </a:rPr>
              <a:t>th</a:t>
            </a:r>
            <a:r>
              <a:rPr lang="en-US" sz="2800" dirty="0" smtClean="0">
                <a:latin typeface="Algerian" panose="04020705040A02060702" pitchFamily="82" charset="0"/>
              </a:rPr>
              <a:t> Generation of Computer (Present &amp; Future)</a:t>
            </a:r>
            <a:endParaRPr lang="en-US" sz="28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Based on </a:t>
            </a:r>
            <a:r>
              <a:rPr lang="en-US" b="1" dirty="0" smtClean="0"/>
              <a:t>Artificial Intelligence</a:t>
            </a:r>
            <a:endParaRPr lang="en-US" dirty="0" smtClean="0"/>
          </a:p>
          <a:p>
            <a:r>
              <a:rPr lang="en-US" dirty="0" smtClean="0"/>
              <a:t>Uses </a:t>
            </a:r>
            <a:r>
              <a:rPr lang="en-US" b="1" dirty="0" smtClean="0"/>
              <a:t>Machine Learning and Robotics</a:t>
            </a:r>
            <a:endParaRPr lang="en-US" dirty="0" smtClean="0"/>
          </a:p>
          <a:p>
            <a:r>
              <a:rPr lang="en-US" dirty="0" smtClean="0"/>
              <a:t>Can think and make decisions</a:t>
            </a:r>
          </a:p>
          <a:p>
            <a:r>
              <a:rPr lang="en-US" dirty="0" smtClean="0"/>
              <a:t>Voice recognition and smart systems</a:t>
            </a:r>
          </a:p>
          <a:p>
            <a:r>
              <a:rPr lang="en-US" b="1" dirty="0" smtClean="0"/>
              <a:t>Examples:</a:t>
            </a:r>
            <a:endParaRPr lang="en-US" dirty="0" smtClean="0"/>
          </a:p>
          <a:p>
            <a:r>
              <a:rPr lang="en-US" dirty="0" smtClean="0"/>
              <a:t>Robots</a:t>
            </a:r>
          </a:p>
          <a:p>
            <a:r>
              <a:rPr lang="en-US" dirty="0" smtClean="0"/>
              <a:t>AI-based systems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4" descr="Mewar Universit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570"/>
          <a:stretch/>
        </p:blipFill>
        <p:spPr bwMode="auto">
          <a:xfrm>
            <a:off x="10281708" y="230188"/>
            <a:ext cx="1630892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547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0">
              <a:srgbClr val="FADBC6"/>
            </a:gs>
            <a:gs pos="73480">
              <a:srgbClr val="F4B285"/>
            </a:gs>
            <a:gs pos="0">
              <a:schemeClr val="accent2">
                <a:lumMod val="0"/>
                <a:lumOff val="100000"/>
              </a:schemeClr>
            </a:gs>
            <a:gs pos="16000">
              <a:schemeClr val="accent2">
                <a:lumMod val="0"/>
                <a:lumOff val="100000"/>
              </a:schemeClr>
            </a:gs>
            <a:gs pos="37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0" name="Picture 8" descr="Thank You Png Image #1156264 | Clipart Librar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701" y="1665287"/>
            <a:ext cx="6159499" cy="3972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Mewar University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570"/>
          <a:stretch/>
        </p:blipFill>
        <p:spPr bwMode="auto">
          <a:xfrm>
            <a:off x="10186458" y="268288"/>
            <a:ext cx="1630892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ewar University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570"/>
          <a:stretch/>
        </p:blipFill>
        <p:spPr bwMode="auto">
          <a:xfrm>
            <a:off x="318558" y="268288"/>
            <a:ext cx="1630892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4694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238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Arial</vt:lpstr>
      <vt:lpstr>Calibri</vt:lpstr>
      <vt:lpstr>Calibri Light</vt:lpstr>
      <vt:lpstr>Wingdings</vt:lpstr>
      <vt:lpstr>Office Theme</vt:lpstr>
      <vt:lpstr>PowerPoint Presentation</vt:lpstr>
      <vt:lpstr>GENERATIONS OF COMPUTERS.</vt:lpstr>
      <vt:lpstr>1. 1st Generation of Computers (1940–1956)</vt:lpstr>
      <vt:lpstr>2. 2nd Generation of Computer (1956–1963)</vt:lpstr>
      <vt:lpstr>3. 3rd Generation of Computer (1964–1971)</vt:lpstr>
      <vt:lpstr>4. 4th Generation of Computer (1971–Present)</vt:lpstr>
      <vt:lpstr>5. 5th Generation of Computer (Present &amp; Future)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mewar</dc:creator>
  <cp:lastModifiedBy>mewar</cp:lastModifiedBy>
  <cp:revision>6</cp:revision>
  <dcterms:created xsi:type="dcterms:W3CDTF">2026-02-10T08:45:43Z</dcterms:created>
  <dcterms:modified xsi:type="dcterms:W3CDTF">2026-02-10T09:27:25Z</dcterms:modified>
</cp:coreProperties>
</file>